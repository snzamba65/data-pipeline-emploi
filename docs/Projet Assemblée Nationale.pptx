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Open Sans Light" charset="1" panose="020B0306030504020204"/>
      <p:regular r:id="rId19"/>
    </p:embeddedFont>
    <p:embeddedFont>
      <p:font typeface="Anton" charset="1" panose="00000500000000000000"/>
      <p:regular r:id="rId20"/>
    </p:embeddedFont>
    <p:embeddedFont>
      <p:font typeface="Open Sans" charset="1" panose="020B0606030504020204"/>
      <p:regular r:id="rId21"/>
    </p:embeddedFont>
    <p:embeddedFont>
      <p:font typeface="Open Sans Bold" charset="1" panose="020B0806030504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973106" y="2500375"/>
            <a:ext cx="4341787" cy="481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PRÉSENTATION</a:t>
            </a:r>
            <a:r>
              <a:rPr lang="en-US" sz="28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517573" y="3317645"/>
            <a:ext cx="6311472" cy="3556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69"/>
              </a:lnSpc>
            </a:pPr>
            <a:r>
              <a:rPr lang="en-US" sz="504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PIPELINE DATA PARLEMENTAIRE - ASSEMBLÉE NATIONALE FRANÇAISE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62797" y="8383698"/>
            <a:ext cx="4352096" cy="481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SAMIR NZAMBA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2981705"/>
            <a:ext cx="4815302" cy="4323590"/>
            <a:chOff x="0" y="0"/>
            <a:chExt cx="1268228" cy="113872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68228" cy="1138723"/>
            </a:xfrm>
            <a:custGeom>
              <a:avLst/>
              <a:gdLst/>
              <a:ahLst/>
              <a:cxnLst/>
              <a:rect r="r" b="b" t="t" l="l"/>
              <a:pathLst>
                <a:path h="1138723" w="1268228">
                  <a:moveTo>
                    <a:pt x="0" y="0"/>
                  </a:moveTo>
                  <a:lnTo>
                    <a:pt x="1268228" y="0"/>
                  </a:lnTo>
                  <a:lnTo>
                    <a:pt x="1268228" y="1138723"/>
                  </a:lnTo>
                  <a:lnTo>
                    <a:pt x="0" y="1138723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68228" cy="1176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3472698" y="2981705"/>
            <a:ext cx="4815302" cy="4323590"/>
            <a:chOff x="0" y="0"/>
            <a:chExt cx="1268228" cy="113872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68228" cy="1138723"/>
            </a:xfrm>
            <a:custGeom>
              <a:avLst/>
              <a:gdLst/>
              <a:ahLst/>
              <a:cxnLst/>
              <a:rect r="r" b="b" t="t" l="l"/>
              <a:pathLst>
                <a:path h="1138723" w="1268228">
                  <a:moveTo>
                    <a:pt x="0" y="0"/>
                  </a:moveTo>
                  <a:lnTo>
                    <a:pt x="1268228" y="0"/>
                  </a:lnTo>
                  <a:lnTo>
                    <a:pt x="1268228" y="1138723"/>
                  </a:lnTo>
                  <a:lnTo>
                    <a:pt x="0" y="1138723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268228" cy="11768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47746" y="0"/>
            <a:ext cx="8640254" cy="10287000"/>
            <a:chOff x="0" y="0"/>
            <a:chExt cx="227562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202034" y="237875"/>
            <a:ext cx="5941966" cy="79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1"/>
              </a:lnSpc>
            </a:pPr>
            <a:r>
              <a:rPr lang="en-US" sz="468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SOMMAIRE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397525"/>
            <a:ext cx="7894604" cy="9183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 problème 3 blocs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Architecture tech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nique : tableau ETL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 données : Nirio &amp; pgAdmin 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ashboard - Vue d'ensemble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Dashb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oard - Analyse des scrutins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ashboard - Profil des députés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 cœur du pipeline - mapping groupe politique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chestration et monitoring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Résu</a:t>
            </a: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ltats et limites</a:t>
            </a:r>
          </a:p>
          <a:p>
            <a:pPr algn="l" marL="799075" indent="-399537" lvl="1">
              <a:lnSpc>
                <a:spcPts val="5181"/>
              </a:lnSpc>
              <a:buFont typeface="Arial"/>
              <a:buChar char="•"/>
            </a:pPr>
            <a:r>
              <a:rPr lang="en-US" sz="370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Perspectives</a:t>
            </a:r>
          </a:p>
          <a:p>
            <a:pPr algn="l">
              <a:lnSpc>
                <a:spcPts val="5181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8863" y="-72827"/>
            <a:ext cx="8640254" cy="10882580"/>
            <a:chOff x="0" y="0"/>
            <a:chExt cx="2275623" cy="28661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866194"/>
            </a:xfrm>
            <a:custGeom>
              <a:avLst/>
              <a:gdLst/>
              <a:ahLst/>
              <a:cxnLst/>
              <a:rect r="r" b="b" t="t" l="l"/>
              <a:pathLst>
                <a:path h="2866194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866194"/>
                  </a:lnTo>
                  <a:lnTo>
                    <a:pt x="0" y="2866194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904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59239" y="1573372"/>
            <a:ext cx="1740795" cy="0"/>
          </a:xfrm>
          <a:prstGeom prst="line">
            <a:avLst/>
          </a:prstGeom>
          <a:ln cap="flat" w="38100">
            <a:solidFill>
              <a:srgbClr val="7A92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028700" y="1821022"/>
            <a:ext cx="15383503" cy="7807128"/>
          </a:xfrm>
          <a:custGeom>
            <a:avLst/>
            <a:gdLst/>
            <a:ahLst/>
            <a:cxnLst/>
            <a:rect r="r" b="b" t="t" l="l"/>
            <a:pathLst>
              <a:path h="7807128" w="15383503">
                <a:moveTo>
                  <a:pt x="0" y="0"/>
                </a:moveTo>
                <a:lnTo>
                  <a:pt x="15383503" y="0"/>
                </a:lnTo>
                <a:lnTo>
                  <a:pt x="15383503" y="7807128"/>
                </a:lnTo>
                <a:lnTo>
                  <a:pt x="0" y="78071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06436" y="659130"/>
            <a:ext cx="74528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Le problème 3 blocs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8863" y="-72827"/>
            <a:ext cx="8640254" cy="10882580"/>
            <a:chOff x="0" y="0"/>
            <a:chExt cx="2275623" cy="28661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866194"/>
            </a:xfrm>
            <a:custGeom>
              <a:avLst/>
              <a:gdLst/>
              <a:ahLst/>
              <a:cxnLst/>
              <a:rect r="r" b="b" t="t" l="l"/>
              <a:pathLst>
                <a:path h="2866194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866194"/>
                  </a:lnTo>
                  <a:lnTo>
                    <a:pt x="0" y="2866194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904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59239" y="1573372"/>
            <a:ext cx="1740795" cy="0"/>
          </a:xfrm>
          <a:prstGeom prst="line">
            <a:avLst/>
          </a:prstGeom>
          <a:ln cap="flat" w="38100">
            <a:solidFill>
              <a:srgbClr val="7A92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178638" y="1821022"/>
            <a:ext cx="15727165" cy="8020854"/>
          </a:xfrm>
          <a:custGeom>
            <a:avLst/>
            <a:gdLst/>
            <a:ahLst/>
            <a:cxnLst/>
            <a:rect r="r" b="b" t="t" l="l"/>
            <a:pathLst>
              <a:path h="8020854" w="15727165">
                <a:moveTo>
                  <a:pt x="0" y="0"/>
                </a:moveTo>
                <a:lnTo>
                  <a:pt x="15727165" y="0"/>
                </a:lnTo>
                <a:lnTo>
                  <a:pt x="15727165" y="8020854"/>
                </a:lnTo>
                <a:lnTo>
                  <a:pt x="0" y="80208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06436" y="659130"/>
            <a:ext cx="74528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Architecture technique : tableau ETL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8863" y="-72827"/>
            <a:ext cx="8640254" cy="10882580"/>
            <a:chOff x="0" y="0"/>
            <a:chExt cx="2275623" cy="286619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866194"/>
            </a:xfrm>
            <a:custGeom>
              <a:avLst/>
              <a:gdLst/>
              <a:ahLst/>
              <a:cxnLst/>
              <a:rect r="r" b="b" t="t" l="l"/>
              <a:pathLst>
                <a:path h="2866194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866194"/>
                  </a:lnTo>
                  <a:lnTo>
                    <a:pt x="0" y="2866194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9042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0259239" y="1573372"/>
            <a:ext cx="1740795" cy="0"/>
          </a:xfrm>
          <a:prstGeom prst="line">
            <a:avLst/>
          </a:prstGeom>
          <a:ln cap="flat" w="38100">
            <a:solidFill>
              <a:srgbClr val="7A927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86988" y="1859667"/>
            <a:ext cx="8957012" cy="3829123"/>
          </a:xfrm>
          <a:custGeom>
            <a:avLst/>
            <a:gdLst/>
            <a:ahLst/>
            <a:cxnLst/>
            <a:rect r="r" b="b" t="t" l="l"/>
            <a:pathLst>
              <a:path h="3829123" w="8957012">
                <a:moveTo>
                  <a:pt x="0" y="0"/>
                </a:moveTo>
                <a:lnTo>
                  <a:pt x="8957012" y="0"/>
                </a:lnTo>
                <a:lnTo>
                  <a:pt x="8957012" y="3829122"/>
                </a:lnTo>
                <a:lnTo>
                  <a:pt x="0" y="38291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68405" y="5955489"/>
            <a:ext cx="11091113" cy="3937345"/>
          </a:xfrm>
          <a:custGeom>
            <a:avLst/>
            <a:gdLst/>
            <a:ahLst/>
            <a:cxnLst/>
            <a:rect r="r" b="b" t="t" l="l"/>
            <a:pathLst>
              <a:path h="3937345" w="11091113">
                <a:moveTo>
                  <a:pt x="0" y="0"/>
                </a:moveTo>
                <a:lnTo>
                  <a:pt x="11091113" y="0"/>
                </a:lnTo>
                <a:lnTo>
                  <a:pt x="11091113" y="3937346"/>
                </a:lnTo>
                <a:lnTo>
                  <a:pt x="0" y="39373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06436" y="659130"/>
            <a:ext cx="7452864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Les données : Nirio &amp; pgAdmin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0" y="3031037"/>
            <a:ext cx="9336149" cy="21124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90"/>
              </a:lnSpc>
              <a:spcBef>
                <a:spcPct val="0"/>
              </a:spcBef>
            </a:pPr>
            <a:r>
              <a:rPr lang="en-US" sz="40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3 114 → 577 acteurs bruts → députés actifs</a:t>
            </a:r>
          </a:p>
          <a:p>
            <a:pPr algn="ctr">
              <a:lnSpc>
                <a:spcPts val="5690"/>
              </a:lnSpc>
              <a:spcBef>
                <a:spcPct val="0"/>
              </a:spcBef>
            </a:pPr>
            <a:r>
              <a:rPr lang="en-US" sz="4064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6 899 scrutins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89522"/>
            <a:ext cx="8640254" cy="9575526"/>
            <a:chOff x="0" y="0"/>
            <a:chExt cx="2275623" cy="2521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521949"/>
            </a:xfrm>
            <a:custGeom>
              <a:avLst/>
              <a:gdLst/>
              <a:ahLst/>
              <a:cxnLst/>
              <a:rect r="r" b="b" t="t" l="l"/>
              <a:pathLst>
                <a:path h="2521949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521949"/>
                  </a:lnTo>
                  <a:lnTo>
                    <a:pt x="0" y="2521949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560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569936" y="1530970"/>
            <a:ext cx="16140637" cy="7727330"/>
          </a:xfrm>
          <a:custGeom>
            <a:avLst/>
            <a:gdLst/>
            <a:ahLst/>
            <a:cxnLst/>
            <a:rect r="r" b="b" t="t" l="l"/>
            <a:pathLst>
              <a:path h="7727330" w="16140637">
                <a:moveTo>
                  <a:pt x="0" y="0"/>
                </a:moveTo>
                <a:lnTo>
                  <a:pt x="16140637" y="0"/>
                </a:lnTo>
                <a:lnTo>
                  <a:pt x="16140637" y="7727330"/>
                </a:lnTo>
                <a:lnTo>
                  <a:pt x="0" y="77273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51010" y="251667"/>
            <a:ext cx="7923579" cy="55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DASHBOARD - VUE</a:t>
            </a: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d'ensemble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351010" y="9482713"/>
            <a:ext cx="3160786" cy="566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66"/>
              </a:lnSpc>
              <a:spcBef>
                <a:spcPct val="0"/>
              </a:spcBef>
            </a:pPr>
            <a:r>
              <a:rPr lang="en-US" sz="333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KPIs temps réel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2889522"/>
            <a:ext cx="8640254" cy="9575526"/>
            <a:chOff x="0" y="0"/>
            <a:chExt cx="2275623" cy="252194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75623" cy="2521949"/>
            </a:xfrm>
            <a:custGeom>
              <a:avLst/>
              <a:gdLst/>
              <a:ahLst/>
              <a:cxnLst/>
              <a:rect r="r" b="b" t="t" l="l"/>
              <a:pathLst>
                <a:path h="2521949" w="2275623">
                  <a:moveTo>
                    <a:pt x="0" y="0"/>
                  </a:moveTo>
                  <a:lnTo>
                    <a:pt x="2275623" y="0"/>
                  </a:lnTo>
                  <a:lnTo>
                    <a:pt x="2275623" y="2521949"/>
                  </a:lnTo>
                  <a:lnTo>
                    <a:pt x="0" y="2521949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75623" cy="25600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28700" y="1650794"/>
            <a:ext cx="16094468" cy="7685108"/>
          </a:xfrm>
          <a:custGeom>
            <a:avLst/>
            <a:gdLst/>
            <a:ahLst/>
            <a:cxnLst/>
            <a:rect r="r" b="b" t="t" l="l"/>
            <a:pathLst>
              <a:path h="7685108" w="16094468">
                <a:moveTo>
                  <a:pt x="0" y="0"/>
                </a:moveTo>
                <a:lnTo>
                  <a:pt x="16094468" y="0"/>
                </a:lnTo>
                <a:lnTo>
                  <a:pt x="16094468" y="7685109"/>
                </a:lnTo>
                <a:lnTo>
                  <a:pt x="0" y="7685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379987" y="729053"/>
            <a:ext cx="7923579" cy="551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90"/>
              </a:lnSpc>
            </a:pP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DASHB</a:t>
            </a:r>
            <a:r>
              <a:rPr lang="en-US" sz="335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oard - Analyse des scrutins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735207" y="9667875"/>
            <a:ext cx="8451802" cy="327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684"/>
              </a:lnSpc>
            </a:pPr>
            <a:r>
              <a:rPr lang="en-US" sz="1917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Filtres dynamiques, export CSV, 6 899 scrutins, 64.5 % rejetés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8463" y="1320224"/>
            <a:ext cx="16580837" cy="7938076"/>
          </a:xfrm>
          <a:custGeom>
            <a:avLst/>
            <a:gdLst/>
            <a:ahLst/>
            <a:cxnLst/>
            <a:rect r="r" b="b" t="t" l="l"/>
            <a:pathLst>
              <a:path h="7938076" w="16580837">
                <a:moveTo>
                  <a:pt x="0" y="0"/>
                </a:moveTo>
                <a:lnTo>
                  <a:pt x="16580837" y="0"/>
                </a:lnTo>
                <a:lnTo>
                  <a:pt x="16580837" y="7938076"/>
                </a:lnTo>
                <a:lnTo>
                  <a:pt x="0" y="79380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2446" y="365760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Dashboard - Profil des</a:t>
            </a: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députés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91918" y="9515475"/>
            <a:ext cx="9553926" cy="409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61"/>
              </a:lnSpc>
            </a:pPr>
            <a:r>
              <a:rPr lang="en-US" sz="2472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577 députés · démographie · professions · groupes politiques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31022" y="1028700"/>
            <a:ext cx="10625957" cy="9257865"/>
          </a:xfrm>
          <a:custGeom>
            <a:avLst/>
            <a:gdLst/>
            <a:ahLst/>
            <a:cxnLst/>
            <a:rect r="r" b="b" t="t" l="l"/>
            <a:pathLst>
              <a:path h="9257865" w="10625957">
                <a:moveTo>
                  <a:pt x="0" y="0"/>
                </a:moveTo>
                <a:lnTo>
                  <a:pt x="10625956" y="0"/>
                </a:lnTo>
                <a:lnTo>
                  <a:pt x="10625956" y="9257865"/>
                </a:lnTo>
                <a:lnTo>
                  <a:pt x="0" y="9257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02446" y="365760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Le cœur du pipeline - mapping groupe politique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264506" y="3811805"/>
            <a:ext cx="3083441" cy="46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6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Filtre mandat actif</a:t>
            </a:r>
            <a:r>
              <a:rPr lang="en-US" sz="276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→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22902" y="6016286"/>
            <a:ext cx="4225045" cy="46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6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Croisement organe</a:t>
            </a:r>
            <a:r>
              <a:rPr lang="en-US" sz="276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→ sigle→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83607" y="6656395"/>
            <a:ext cx="3381526" cy="463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6"/>
              </a:lnSpc>
              <a:spcBef>
                <a:spcPct val="0"/>
              </a:spcBef>
            </a:pPr>
            <a:r>
              <a:rPr lang="en-US" sz="276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577 députés mappés</a:t>
            </a:r>
            <a:r>
              <a:rPr lang="en-US" sz="2762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→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07807" y="-7471697"/>
            <a:ext cx="3308496" cy="18251890"/>
            <a:chOff x="0" y="0"/>
            <a:chExt cx="871373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373" cy="4807082"/>
            </a:xfrm>
            <a:custGeom>
              <a:avLst/>
              <a:gdLst/>
              <a:ahLst/>
              <a:cxnLst/>
              <a:rect r="r" b="b" t="t" l="l"/>
              <a:pathLst>
                <a:path h="4807082" w="871373">
                  <a:moveTo>
                    <a:pt x="0" y="0"/>
                  </a:moveTo>
                  <a:lnTo>
                    <a:pt x="871373" y="0"/>
                  </a:lnTo>
                  <a:lnTo>
                    <a:pt x="871373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1373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36110" y="811971"/>
            <a:ext cx="10029384" cy="4456210"/>
          </a:xfrm>
          <a:custGeom>
            <a:avLst/>
            <a:gdLst/>
            <a:ahLst/>
            <a:cxnLst/>
            <a:rect r="r" b="b" t="t" l="l"/>
            <a:pathLst>
              <a:path h="4456210" w="10029384">
                <a:moveTo>
                  <a:pt x="0" y="0"/>
                </a:moveTo>
                <a:lnTo>
                  <a:pt x="10029383" y="0"/>
                </a:lnTo>
                <a:lnTo>
                  <a:pt x="10029383" y="4456210"/>
                </a:lnTo>
                <a:lnTo>
                  <a:pt x="0" y="44562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7063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686661" y="3308496"/>
            <a:ext cx="11301259" cy="5834275"/>
          </a:xfrm>
          <a:custGeom>
            <a:avLst/>
            <a:gdLst/>
            <a:ahLst/>
            <a:cxnLst/>
            <a:rect r="r" b="b" t="t" l="l"/>
            <a:pathLst>
              <a:path h="5834275" w="11301259">
                <a:moveTo>
                  <a:pt x="0" y="0"/>
                </a:moveTo>
                <a:lnTo>
                  <a:pt x="11301259" y="0"/>
                </a:lnTo>
                <a:lnTo>
                  <a:pt x="11301259" y="5834275"/>
                </a:lnTo>
                <a:lnTo>
                  <a:pt x="0" y="58342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257496" y="149031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rchestration et monitoring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47659" y="9411400"/>
            <a:ext cx="10344574" cy="603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8"/>
              </a:lnSpc>
              <a:spcBef>
                <a:spcPct val="0"/>
              </a:spcBef>
            </a:pPr>
            <a:r>
              <a:rPr lang="en-US" sz="3506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DAG quotidien 6h00 · monitoring PostgreSQL en temps réel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07807" y="-7471697"/>
            <a:ext cx="3308496" cy="18251890"/>
            <a:chOff x="0" y="0"/>
            <a:chExt cx="871373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373" cy="4807082"/>
            </a:xfrm>
            <a:custGeom>
              <a:avLst/>
              <a:gdLst/>
              <a:ahLst/>
              <a:cxnLst/>
              <a:rect r="r" b="b" t="t" l="l"/>
              <a:pathLst>
                <a:path h="4807082" w="871373">
                  <a:moveTo>
                    <a:pt x="0" y="0"/>
                  </a:moveTo>
                  <a:lnTo>
                    <a:pt x="871373" y="0"/>
                  </a:lnTo>
                  <a:lnTo>
                    <a:pt x="871373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1373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84909" y="4472060"/>
            <a:ext cx="15518182" cy="2625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5415" indent="-402707" lvl="1">
              <a:lnSpc>
                <a:spcPts val="5222"/>
              </a:lnSpc>
              <a:buFont typeface="Arial"/>
              <a:buChar char="•"/>
            </a:pPr>
            <a:r>
              <a:rPr lang="en-US" sz="37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Réalisé : 577 députés; 6 899 scrutins; 37/37 tests; pipeline &lt; 60s; 4 pages dashboard; credentials externalisés</a:t>
            </a:r>
          </a:p>
          <a:p>
            <a:pPr algn="l" marL="805415" indent="-402707" lvl="1">
              <a:lnSpc>
                <a:spcPts val="5222"/>
              </a:lnSpc>
              <a:buFont typeface="Arial"/>
              <a:buChar char="•"/>
            </a:pPr>
            <a:r>
              <a:rPr lang="en-US" sz="373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Limites : DAG Airflow nécessite installation dépendances dans l'image · dashboard non déployé en ligne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41118" y="659130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Résultats</a:t>
            </a: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et limites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7507807" y="-7471697"/>
            <a:ext cx="3308496" cy="18251890"/>
            <a:chOff x="0" y="0"/>
            <a:chExt cx="871373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71373" cy="4807082"/>
            </a:xfrm>
            <a:custGeom>
              <a:avLst/>
              <a:gdLst/>
              <a:ahLst/>
              <a:cxnLst/>
              <a:rect r="r" b="b" t="t" l="l"/>
              <a:pathLst>
                <a:path h="4807082" w="871373">
                  <a:moveTo>
                    <a:pt x="0" y="0"/>
                  </a:moveTo>
                  <a:lnTo>
                    <a:pt x="871373" y="0"/>
                  </a:lnTo>
                  <a:lnTo>
                    <a:pt x="871373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71373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8401391" y="1654248"/>
            <a:ext cx="8141320" cy="8171965"/>
          </a:xfrm>
          <a:custGeom>
            <a:avLst/>
            <a:gdLst/>
            <a:ahLst/>
            <a:cxnLst/>
            <a:rect r="r" b="b" t="t" l="l"/>
            <a:pathLst>
              <a:path h="8171965" w="8141320">
                <a:moveTo>
                  <a:pt x="0" y="0"/>
                </a:moveTo>
                <a:lnTo>
                  <a:pt x="8141320" y="0"/>
                </a:lnTo>
                <a:lnTo>
                  <a:pt x="8141320" y="8171965"/>
                </a:lnTo>
                <a:lnTo>
                  <a:pt x="0" y="81719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33730" y="3426000"/>
            <a:ext cx="6194279" cy="4704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889" indent="-360945" lvl="1">
              <a:lnSpc>
                <a:spcPts val="4681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Déploiement Supabase + Streamlit Cloud pour accès public</a:t>
            </a:r>
          </a:p>
          <a:p>
            <a:pPr algn="l" marL="721889" indent="-360945" lvl="1">
              <a:lnSpc>
                <a:spcPts val="4681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Enrichissement avec les votes individuels par député</a:t>
            </a:r>
          </a:p>
          <a:p>
            <a:pPr algn="l" marL="721889" indent="-360945" lvl="1">
              <a:lnSpc>
                <a:spcPts val="4681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Alertes Grafana sur seuils de participation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45774" y="588156"/>
            <a:ext cx="13196452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Perspectives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5400000">
            <a:off x="8029407" y="-7993297"/>
            <a:ext cx="2265296" cy="18251890"/>
            <a:chOff x="0" y="0"/>
            <a:chExt cx="596621" cy="48070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96621" cy="4807082"/>
            </a:xfrm>
            <a:custGeom>
              <a:avLst/>
              <a:gdLst/>
              <a:ahLst/>
              <a:cxnLst/>
              <a:rect r="r" b="b" t="t" l="l"/>
              <a:pathLst>
                <a:path h="4807082" w="596621">
                  <a:moveTo>
                    <a:pt x="0" y="0"/>
                  </a:moveTo>
                  <a:lnTo>
                    <a:pt x="596621" y="0"/>
                  </a:lnTo>
                  <a:lnTo>
                    <a:pt x="596621" y="4807082"/>
                  </a:lnTo>
                  <a:lnTo>
                    <a:pt x="0" y="4807082"/>
                  </a:lnTo>
                  <a:close/>
                </a:path>
              </a:pathLst>
            </a:custGeom>
            <a:solidFill>
              <a:srgbClr val="7A927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96621" cy="48451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289547" y="3823661"/>
            <a:ext cx="9745015" cy="2363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22"/>
              </a:lnSpc>
            </a:pPr>
            <a:r>
              <a:rPr lang="en-US" sz="1387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Merci</a:t>
            </a:r>
            <a:r>
              <a:rPr lang="en-US" sz="13873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!!!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46817" y="7949239"/>
            <a:ext cx="9027220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github.com/SNZAMBA65/data-pipeline-emploi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749933" y="77278"/>
            <a:ext cx="3994646" cy="2034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Samir NZAMBA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 Mastère DPIA 1 </a:t>
            </a:r>
          </a:p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sz="38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Fonderie de l'Image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DAG_yAJjR9w</dc:identifier>
  <dcterms:modified xsi:type="dcterms:W3CDTF">2011-08-01T06:04:30Z</dcterms:modified>
  <cp:revision>1</cp:revision>
  <dc:title>Projet Assemblée Nationale</dc:title>
</cp:coreProperties>
</file>